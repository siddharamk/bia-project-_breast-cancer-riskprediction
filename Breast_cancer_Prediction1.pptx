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21"/>
  </p:notesMasterIdLst>
  <p:sldIdLst>
    <p:sldId id="256" r:id="rId2"/>
    <p:sldId id="714" r:id="rId3"/>
    <p:sldId id="674" r:id="rId4"/>
    <p:sldId id="715" r:id="rId5"/>
    <p:sldId id="716" r:id="rId6"/>
    <p:sldId id="717" r:id="rId7"/>
    <p:sldId id="718" r:id="rId8"/>
    <p:sldId id="719" r:id="rId9"/>
    <p:sldId id="720" r:id="rId10"/>
    <p:sldId id="721" r:id="rId11"/>
    <p:sldId id="722" r:id="rId12"/>
    <p:sldId id="723" r:id="rId13"/>
    <p:sldId id="724" r:id="rId14"/>
    <p:sldId id="725" r:id="rId15"/>
    <p:sldId id="726" r:id="rId16"/>
    <p:sldId id="727" r:id="rId17"/>
    <p:sldId id="728" r:id="rId18"/>
    <p:sldId id="729" r:id="rId19"/>
    <p:sldId id="30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3447" autoAdjust="0"/>
  </p:normalViewPr>
  <p:slideViewPr>
    <p:cSldViewPr snapToGrid="0">
      <p:cViewPr varScale="1">
        <p:scale>
          <a:sx n="77" d="100"/>
          <a:sy n="77" d="100"/>
        </p:scale>
        <p:origin x="902" y="62"/>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12-11-2025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395908" y="3687417"/>
            <a:ext cx="11400183"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Breast Cancer Survival Analysis</a:t>
            </a:r>
          </a:p>
          <a:p>
            <a:pPr algn="ctr"/>
            <a:endParaRPr lang="en-US" sz="4400" b="1" dirty="0">
              <a:latin typeface="Calibri" panose="020F0502020204030204" pitchFamily="34" charset="0"/>
            </a:endParaRPr>
          </a:p>
          <a:p>
            <a:pPr algn="ctr"/>
            <a:r>
              <a:rPr lang="en-US" sz="2800" b="1" dirty="0">
                <a:latin typeface="Calibri" panose="020F0502020204030204" pitchFamily="34" charset="0"/>
              </a:rPr>
              <a:t>Projected By: </a:t>
            </a:r>
            <a:r>
              <a:rPr lang="en-US" sz="2800" b="1" dirty="0" err="1">
                <a:latin typeface="Calibri" panose="020F0502020204030204" pitchFamily="34" charset="0"/>
              </a:rPr>
              <a:t>Siddharam</a:t>
            </a:r>
            <a:r>
              <a:rPr lang="en-US" sz="2800" b="1" dirty="0">
                <a:latin typeface="Calibri" panose="020F0502020204030204" pitchFamily="34" charset="0"/>
              </a:rPr>
              <a:t> </a:t>
            </a:r>
            <a:r>
              <a:rPr lang="en-US" sz="2800" b="1" dirty="0" err="1">
                <a:latin typeface="Calibri" panose="020F0502020204030204" pitchFamily="34" charset="0"/>
              </a:rPr>
              <a:t>Kothane</a:t>
            </a:r>
            <a:endParaRPr lang="en-US" sz="2800" b="1" dirty="0">
              <a:latin typeface="Calibri" panose="020F0502020204030204" pitchFamily="34" charset="0"/>
            </a:endParaRP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pPr marL="457200" indent="-457200">
              <a:buFont typeface="Wingdings" panose="05000000000000000000" pitchFamily="2" charset="2"/>
              <a:buChar char="v"/>
            </a:pPr>
            <a:r>
              <a:rPr lang="en-US" dirty="0"/>
              <a:t>Agenda</a:t>
            </a:r>
            <a:endParaRPr lang="en-IN" dirty="0"/>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p:txBody>
          <a:bodyPr>
            <a:normAutofit lnSpcReduction="10000"/>
          </a:bodyPr>
          <a:lstStyle/>
          <a:p>
            <a:pPr>
              <a:buFont typeface="Wingdings" panose="05000000000000000000" pitchFamily="2" charset="2"/>
              <a:buChar char="§"/>
            </a:pPr>
            <a:r>
              <a:rPr lang="en-IN" dirty="0"/>
              <a:t>INTRODUCTION</a:t>
            </a:r>
          </a:p>
          <a:p>
            <a:pPr>
              <a:buFont typeface="Wingdings" panose="05000000000000000000" pitchFamily="2" charset="2"/>
              <a:buChar char="§"/>
            </a:pPr>
            <a:r>
              <a:rPr lang="en-IN" dirty="0"/>
              <a:t>Dataset Description</a:t>
            </a:r>
          </a:p>
          <a:p>
            <a:pPr>
              <a:buFont typeface="Wingdings" panose="05000000000000000000" pitchFamily="2" charset="2"/>
              <a:buChar char="§"/>
            </a:pPr>
            <a:r>
              <a:rPr lang="en-IN" dirty="0"/>
              <a:t>Exploratory Data Analysis (EDA)</a:t>
            </a:r>
          </a:p>
          <a:p>
            <a:pPr>
              <a:buFont typeface="Wingdings" panose="05000000000000000000" pitchFamily="2" charset="2"/>
              <a:buChar char="§"/>
            </a:pPr>
            <a:r>
              <a:rPr lang="en-IN" dirty="0"/>
              <a:t>Data Exploration</a:t>
            </a:r>
          </a:p>
          <a:p>
            <a:pPr>
              <a:buFont typeface="Wingdings" panose="05000000000000000000" pitchFamily="2" charset="2"/>
              <a:buChar char="§"/>
            </a:pPr>
            <a:r>
              <a:rPr lang="en-IN" dirty="0"/>
              <a:t>PREPROCESIING</a:t>
            </a:r>
          </a:p>
          <a:p>
            <a:pPr>
              <a:buFont typeface="Wingdings" panose="05000000000000000000" pitchFamily="2" charset="2"/>
              <a:buChar char="§"/>
            </a:pPr>
            <a:r>
              <a:rPr lang="en-IN" dirty="0"/>
              <a:t>TRAIN-TEST SPLIT</a:t>
            </a:r>
          </a:p>
          <a:p>
            <a:pPr>
              <a:buFont typeface="Wingdings" panose="05000000000000000000" pitchFamily="2" charset="2"/>
              <a:buChar char="§"/>
            </a:pPr>
            <a:r>
              <a:rPr lang="en-IN" dirty="0"/>
              <a:t>MODEL SELECTION</a:t>
            </a:r>
          </a:p>
          <a:p>
            <a:pPr>
              <a:buFont typeface="Wingdings" panose="05000000000000000000" pitchFamily="2" charset="2"/>
              <a:buChar char="§"/>
            </a:pPr>
            <a:r>
              <a:rPr lang="en-IN" dirty="0"/>
              <a:t>RESULTS</a:t>
            </a:r>
          </a:p>
          <a:p>
            <a:pPr>
              <a:buFont typeface="Wingdings" panose="05000000000000000000" pitchFamily="2" charset="2"/>
              <a:buChar char="§"/>
            </a:pPr>
            <a:r>
              <a:rPr lang="en-IN" dirty="0"/>
              <a:t>CONCLUSION</a:t>
            </a:r>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a:norm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lgn="just">
              <a:buFont typeface="Wingdings" panose="05000000000000000000" pitchFamily="2" charset="2"/>
              <a:buChar char="§"/>
            </a:pPr>
            <a:r>
              <a:rPr lang="en-US" sz="2000" dirty="0"/>
              <a:t>Breast cancer is the most common cancer among women worldwide.</a:t>
            </a:r>
          </a:p>
          <a:p>
            <a:pPr lvl="0" algn="just">
              <a:buFont typeface="Wingdings" panose="05000000000000000000" pitchFamily="2" charset="2"/>
              <a:buChar char="§"/>
            </a:pPr>
            <a:r>
              <a:rPr lang="en-US" sz="2000" dirty="0"/>
              <a:t>Accounts for about 25% of all cancer cases globally.</a:t>
            </a:r>
          </a:p>
          <a:p>
            <a:pPr lvl="0" algn="just">
              <a:buFont typeface="Wingdings" panose="05000000000000000000" pitchFamily="2" charset="2"/>
              <a:buChar char="§"/>
            </a:pPr>
            <a:r>
              <a:rPr lang="en-US" sz="2000" dirty="0"/>
              <a:t>Early detection can greatly improve survival rates.</a:t>
            </a:r>
          </a:p>
          <a:p>
            <a:pPr lvl="0" algn="just">
              <a:buFont typeface="Wingdings" panose="05000000000000000000" pitchFamily="2" charset="2"/>
              <a:buChar char="§"/>
            </a:pPr>
            <a:r>
              <a:rPr lang="en-US" sz="2000" dirty="0"/>
              <a:t>Traditional detection methods are time-consuming and may have human errors.</a:t>
            </a:r>
          </a:p>
          <a:p>
            <a:pPr lvl="0" algn="just">
              <a:buFont typeface="Wingdings" panose="05000000000000000000" pitchFamily="2" charset="2"/>
              <a:buChar char="§"/>
            </a:pPr>
            <a:r>
              <a:rPr lang="en-US" sz="2000" dirty="0"/>
              <a:t>Machine Learning (ML) can help detect cancer faster and more accurately by analyzing data patterns.</a:t>
            </a:r>
          </a:p>
        </p:txBody>
      </p:sp>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343DD-6666-04F4-880F-3E2E1B3ED15B}"/>
              </a:ext>
            </a:extLst>
          </p:cNvPr>
          <p:cNvSpPr>
            <a:spLocks noGrp="1"/>
          </p:cNvSpPr>
          <p:nvPr>
            <p:ph type="title"/>
          </p:nvPr>
        </p:nvSpPr>
        <p:spPr/>
        <p:txBody>
          <a:bodyPr>
            <a:normAutofit/>
          </a:bodyPr>
          <a:lstStyle/>
          <a:p>
            <a:pPr algn="ctr"/>
            <a:r>
              <a:rPr lang="en-US" sz="2400" dirty="0"/>
              <a:t>PROJECT'S SIGNIFICANCE AND ITS BENEFITS TO HEALTHCARE STATEMENT</a:t>
            </a:r>
            <a:endParaRPr lang="en-IN" sz="2400" dirty="0"/>
          </a:p>
        </p:txBody>
      </p:sp>
      <p:sp>
        <p:nvSpPr>
          <p:cNvPr id="3" name="Content Placeholder 2">
            <a:extLst>
              <a:ext uri="{FF2B5EF4-FFF2-40B4-BE49-F238E27FC236}">
                <a16:creationId xmlns:a16="http://schemas.microsoft.com/office/drawing/2014/main" id="{A3615528-79BB-6D1F-C39D-B88AA94BEE4D}"/>
              </a:ext>
            </a:extLst>
          </p:cNvPr>
          <p:cNvSpPr>
            <a:spLocks noGrp="1"/>
          </p:cNvSpPr>
          <p:nvPr>
            <p:ph idx="1"/>
          </p:nvPr>
        </p:nvSpPr>
        <p:spPr/>
        <p:txBody>
          <a:bodyPr>
            <a:normAutofit/>
          </a:bodyPr>
          <a:lstStyle/>
          <a:p>
            <a:pPr>
              <a:lnSpc>
                <a:spcPct val="150000"/>
              </a:lnSpc>
            </a:pPr>
            <a:r>
              <a:rPr lang="en-US" sz="1800" dirty="0"/>
              <a:t>Early Diagnosis Combining multiple risk factors in modelling for breast cancer prediction could help the early diagnosis of the disease with necessary care plans, </a:t>
            </a:r>
          </a:p>
          <a:p>
            <a:pPr>
              <a:lnSpc>
                <a:spcPct val="150000"/>
              </a:lnSpc>
            </a:pPr>
            <a:r>
              <a:rPr lang="en-US" sz="1800" dirty="0"/>
              <a:t>Collection, storage, and management of different data and intelligent systems based on multiple factors for predicting breast cancer are effective in disease management. </a:t>
            </a:r>
          </a:p>
          <a:p>
            <a:pPr>
              <a:lnSpc>
                <a:spcPct val="150000"/>
              </a:lnSpc>
            </a:pPr>
            <a:r>
              <a:rPr lang="en-US" sz="1800" dirty="0" err="1"/>
              <a:t>Visualisation</a:t>
            </a:r>
            <a:r>
              <a:rPr lang="en-US" sz="1800" dirty="0"/>
              <a:t> of biomedical data: You can use machine learning to create three dimensional </a:t>
            </a:r>
            <a:r>
              <a:rPr lang="en-US" sz="1800" dirty="0" err="1"/>
              <a:t>visualisations</a:t>
            </a:r>
            <a:r>
              <a:rPr lang="en-US" sz="1800" dirty="0"/>
              <a:t> of biomedical data such as RNA sequences, protein structure, and genomic profiles.</a:t>
            </a:r>
          </a:p>
          <a:p>
            <a:pPr>
              <a:lnSpc>
                <a:spcPct val="150000"/>
              </a:lnSpc>
            </a:pPr>
            <a:r>
              <a:rPr lang="en-US" sz="1800" dirty="0"/>
              <a:t>Improved diagnosis and disease identification Identify previously </a:t>
            </a:r>
            <a:r>
              <a:rPr lang="en-US" sz="1800" dirty="0" err="1"/>
              <a:t>unrecognisable</a:t>
            </a:r>
            <a:r>
              <a:rPr lang="en-US" sz="1800" dirty="0"/>
              <a:t> symptom patterns and compare them with larger data sets to diagnose </a:t>
            </a:r>
            <a:r>
              <a:rPr lang="en-US" sz="1800" dirty="0" err="1"/>
              <a:t>disenses</a:t>
            </a:r>
            <a:endParaRPr lang="en-IN" sz="1800" dirty="0"/>
          </a:p>
        </p:txBody>
      </p:sp>
    </p:spTree>
    <p:extLst>
      <p:ext uri="{BB962C8B-B14F-4D97-AF65-F5344CB8AC3E}">
        <p14:creationId xmlns:p14="http://schemas.microsoft.com/office/powerpoint/2010/main" val="2215100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5DFEF-59D4-3926-70EB-5CE8D69CE00B}"/>
              </a:ext>
            </a:extLst>
          </p:cNvPr>
          <p:cNvSpPr>
            <a:spLocks noGrp="1"/>
          </p:cNvSpPr>
          <p:nvPr>
            <p:ph type="title"/>
          </p:nvPr>
        </p:nvSpPr>
        <p:spPr/>
        <p:txBody>
          <a:bodyPr/>
          <a:lstStyle/>
          <a:p>
            <a:pPr algn="ctr"/>
            <a:r>
              <a:rPr lang="en-IN" dirty="0"/>
              <a:t>Dataset Description</a:t>
            </a:r>
          </a:p>
        </p:txBody>
      </p:sp>
      <p:sp>
        <p:nvSpPr>
          <p:cNvPr id="3" name="Content Placeholder 2">
            <a:extLst>
              <a:ext uri="{FF2B5EF4-FFF2-40B4-BE49-F238E27FC236}">
                <a16:creationId xmlns:a16="http://schemas.microsoft.com/office/drawing/2014/main" id="{B5910EE5-1601-4692-40BF-D4C8D4B00E66}"/>
              </a:ext>
            </a:extLst>
          </p:cNvPr>
          <p:cNvSpPr>
            <a:spLocks noGrp="1"/>
          </p:cNvSpPr>
          <p:nvPr>
            <p:ph idx="1"/>
          </p:nvPr>
        </p:nvSpPr>
        <p:spPr/>
        <p:txBody>
          <a:bodyPr>
            <a:normAutofit/>
          </a:bodyPr>
          <a:lstStyle/>
          <a:p>
            <a:pPr>
              <a:buFont typeface="Courier New" panose="02070309020205020404" pitchFamily="49" charset="0"/>
              <a:buChar char="o"/>
            </a:pPr>
            <a:r>
              <a:rPr lang="en-IN" sz="2000" dirty="0"/>
              <a:t>Dataset Used: Breast Cancer Wisconsin (Diagnostic) Dataset </a:t>
            </a:r>
          </a:p>
          <a:p>
            <a:pPr>
              <a:buFont typeface="Courier New" panose="02070309020205020404" pitchFamily="49" charset="0"/>
              <a:buChar char="o"/>
            </a:pPr>
            <a:r>
              <a:rPr lang="en-IN" sz="2000" dirty="0"/>
              <a:t>Source: UCI Machine Learning Repository / Kaggle</a:t>
            </a:r>
          </a:p>
          <a:p>
            <a:pPr>
              <a:buFont typeface="Courier New" panose="02070309020205020404" pitchFamily="49" charset="0"/>
              <a:buChar char="o"/>
            </a:pPr>
            <a:r>
              <a:rPr lang="en-IN" sz="2000" dirty="0"/>
              <a:t> Total Samples: 569 </a:t>
            </a:r>
          </a:p>
          <a:p>
            <a:pPr>
              <a:buFont typeface="Courier New" panose="02070309020205020404" pitchFamily="49" charset="0"/>
              <a:buChar char="o"/>
            </a:pPr>
            <a:r>
              <a:rPr lang="en-IN" sz="2000" dirty="0"/>
              <a:t>Features: 30 numeric attributes (e.g., radius _ mean, texture _ mean, area _ mean, smoothness _ mean, etc.)</a:t>
            </a:r>
          </a:p>
          <a:p>
            <a:pPr>
              <a:buFont typeface="Courier New" panose="02070309020205020404" pitchFamily="49" charset="0"/>
              <a:buChar char="o"/>
            </a:pPr>
            <a:r>
              <a:rPr lang="en-IN" sz="2000" dirty="0"/>
              <a:t> Target Variable: M = Malignant (Cancerous)</a:t>
            </a:r>
          </a:p>
          <a:p>
            <a:pPr>
              <a:buFont typeface="Courier New" panose="02070309020205020404" pitchFamily="49" charset="0"/>
              <a:buChar char="o"/>
            </a:pPr>
            <a:r>
              <a:rPr lang="en-IN" sz="2000" dirty="0"/>
              <a:t> B = Benign (Non-Cancerous)</a:t>
            </a:r>
          </a:p>
        </p:txBody>
      </p:sp>
    </p:spTree>
    <p:extLst>
      <p:ext uri="{BB962C8B-B14F-4D97-AF65-F5344CB8AC3E}">
        <p14:creationId xmlns:p14="http://schemas.microsoft.com/office/powerpoint/2010/main" val="1243253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13DC6-75A0-0F7C-8D5D-EA87CA509DB8}"/>
              </a:ext>
            </a:extLst>
          </p:cNvPr>
          <p:cNvSpPr>
            <a:spLocks noGrp="1"/>
          </p:cNvSpPr>
          <p:nvPr>
            <p:ph type="title"/>
          </p:nvPr>
        </p:nvSpPr>
        <p:spPr/>
        <p:txBody>
          <a:bodyPr/>
          <a:lstStyle/>
          <a:p>
            <a:r>
              <a:rPr lang="en-IN" dirty="0"/>
              <a:t>Exploratory Data Analysis (EDA)</a:t>
            </a:r>
          </a:p>
        </p:txBody>
      </p:sp>
      <p:sp>
        <p:nvSpPr>
          <p:cNvPr id="3" name="Content Placeholder 2">
            <a:extLst>
              <a:ext uri="{FF2B5EF4-FFF2-40B4-BE49-F238E27FC236}">
                <a16:creationId xmlns:a16="http://schemas.microsoft.com/office/drawing/2014/main" id="{B1911B48-7B63-F258-CBFC-BFAC6FB109AD}"/>
              </a:ext>
            </a:extLst>
          </p:cNvPr>
          <p:cNvSpPr>
            <a:spLocks noGrp="1"/>
          </p:cNvSpPr>
          <p:nvPr>
            <p:ph idx="1"/>
          </p:nvPr>
        </p:nvSpPr>
        <p:spPr/>
        <p:txBody>
          <a:bodyPr/>
          <a:lstStyle/>
          <a:p>
            <a:r>
              <a:rPr lang="en-US" dirty="0"/>
              <a:t>Exploring the data allowed us to gain a comprehensive overview of the data's structure. It uncovered potential patterns, helped us identify key trends and get essential insights from the dataset. </a:t>
            </a:r>
          </a:p>
          <a:p>
            <a:r>
              <a:rPr lang="en-US" dirty="0"/>
              <a:t>Throughout the EDA process, we analyzed the distribution of individual features, investigated correlations, and explored any inherent relationships between variables. </a:t>
            </a:r>
          </a:p>
          <a:p>
            <a:r>
              <a:rPr lang="en-US" dirty="0"/>
              <a:t>Visualizations also played a crucial role in providing a clear representation of the data, offering insights into breast cancer prediction</a:t>
            </a:r>
            <a:endParaRPr lang="en-IN" dirty="0"/>
          </a:p>
        </p:txBody>
      </p:sp>
    </p:spTree>
    <p:extLst>
      <p:ext uri="{BB962C8B-B14F-4D97-AF65-F5344CB8AC3E}">
        <p14:creationId xmlns:p14="http://schemas.microsoft.com/office/powerpoint/2010/main" val="2042604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248B5D-FC98-FAD9-AA0C-C97D33F26181}"/>
              </a:ext>
            </a:extLst>
          </p:cNvPr>
          <p:cNvSpPr>
            <a:spLocks noGrp="1"/>
          </p:cNvSpPr>
          <p:nvPr>
            <p:ph idx="1"/>
          </p:nvPr>
        </p:nvSpPr>
        <p:spPr>
          <a:xfrm>
            <a:off x="678884" y="785191"/>
            <a:ext cx="10834234" cy="5287950"/>
          </a:xfrm>
        </p:spPr>
        <p:txBody>
          <a:bodyPr/>
          <a:lstStyle/>
          <a:p>
            <a:r>
              <a:rPr lang="en-US" dirty="0"/>
              <a:t>First, we made sure there were no Null values and Duplicates in the dataset. There was only one column with null values which was dropped since it only had null values. Our dataset was clean to begin with </a:t>
            </a:r>
          </a:p>
          <a:p>
            <a:r>
              <a:rPr lang="en-US" dirty="0"/>
              <a:t>Then, we checked our columns to see if they were providing any useful information for us to work with. We found out that columns like "ID" and "Unnamed 32" weren't contributing much to the predictions. Hence, we decided to drop them during preprocessing </a:t>
            </a:r>
          </a:p>
          <a:p>
            <a:r>
              <a:rPr lang="en-US" dirty="0"/>
              <a:t>Some columns were highly correlated and could lead to overfitting and hence were dropped </a:t>
            </a:r>
          </a:p>
          <a:p>
            <a:r>
              <a:rPr lang="en-US" dirty="0"/>
              <a:t>To ensure consistent scales for numerical features, we decided to employ Standard Scaler</a:t>
            </a:r>
            <a:endParaRPr lang="en-IN" dirty="0"/>
          </a:p>
        </p:txBody>
      </p:sp>
    </p:spTree>
    <p:extLst>
      <p:ext uri="{BB962C8B-B14F-4D97-AF65-F5344CB8AC3E}">
        <p14:creationId xmlns:p14="http://schemas.microsoft.com/office/powerpoint/2010/main" val="3470029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30195-E1F9-B023-E8A2-51164453A8AF}"/>
              </a:ext>
            </a:extLst>
          </p:cNvPr>
          <p:cNvSpPr>
            <a:spLocks noGrp="1"/>
          </p:cNvSpPr>
          <p:nvPr>
            <p:ph type="title"/>
          </p:nvPr>
        </p:nvSpPr>
        <p:spPr/>
        <p:txBody>
          <a:bodyPr/>
          <a:lstStyle/>
          <a:p>
            <a:r>
              <a:rPr lang="en-IN" dirty="0"/>
              <a:t>Data Exploration</a:t>
            </a:r>
          </a:p>
        </p:txBody>
      </p:sp>
      <p:sp>
        <p:nvSpPr>
          <p:cNvPr id="3" name="Content Placeholder 2">
            <a:extLst>
              <a:ext uri="{FF2B5EF4-FFF2-40B4-BE49-F238E27FC236}">
                <a16:creationId xmlns:a16="http://schemas.microsoft.com/office/drawing/2014/main" id="{61A54F5B-D937-89EC-85F6-1AADC3A1B738}"/>
              </a:ext>
            </a:extLst>
          </p:cNvPr>
          <p:cNvSpPr>
            <a:spLocks noGrp="1"/>
          </p:cNvSpPr>
          <p:nvPr>
            <p:ph idx="1"/>
          </p:nvPr>
        </p:nvSpPr>
        <p:spPr>
          <a:xfrm>
            <a:off x="7494104" y="4740965"/>
            <a:ext cx="4019014" cy="1332176"/>
          </a:xfrm>
        </p:spPr>
        <p:txBody>
          <a:bodyPr>
            <a:normAutofit fontScale="92500"/>
          </a:bodyPr>
          <a:lstStyle/>
          <a:p>
            <a:pPr marL="0" indent="0">
              <a:buNone/>
            </a:pPr>
            <a:r>
              <a:rPr lang="en-IN" dirty="0"/>
              <a:t>         Target Variable: </a:t>
            </a:r>
          </a:p>
          <a:p>
            <a:pPr marL="0" indent="0">
              <a:buNone/>
            </a:pPr>
            <a:r>
              <a:rPr lang="en-IN" dirty="0"/>
              <a:t>M = Malignant (Cancerous) B = Benign (Non-Cancerous) </a:t>
            </a:r>
          </a:p>
        </p:txBody>
      </p:sp>
      <p:pic>
        <p:nvPicPr>
          <p:cNvPr id="5" name="Picture 4" descr="A graph of a number of patients">
            <a:extLst>
              <a:ext uri="{FF2B5EF4-FFF2-40B4-BE49-F238E27FC236}">
                <a16:creationId xmlns:a16="http://schemas.microsoft.com/office/drawing/2014/main" id="{1DB6EB52-50D1-74E2-199F-3B038E1EB54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38121" y="1216441"/>
            <a:ext cx="4919661" cy="3524524"/>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37642117-AA8C-5276-2E9A-FB9E410DDE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60443"/>
            <a:ext cx="6838121" cy="2832653"/>
          </a:xfrm>
          <a:prstGeom prst="rect">
            <a:avLst/>
          </a:prstGeom>
        </p:spPr>
      </p:pic>
    </p:spTree>
    <p:extLst>
      <p:ext uri="{BB962C8B-B14F-4D97-AF65-F5344CB8AC3E}">
        <p14:creationId xmlns:p14="http://schemas.microsoft.com/office/powerpoint/2010/main" val="303670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BF9218-917D-4F6D-95A4-57F7BD917D2A}"/>
              </a:ext>
            </a:extLst>
          </p:cNvPr>
          <p:cNvSpPr>
            <a:spLocks noGrp="1"/>
          </p:cNvSpPr>
          <p:nvPr>
            <p:ph idx="1"/>
          </p:nvPr>
        </p:nvSpPr>
        <p:spPr>
          <a:xfrm>
            <a:off x="5257800" y="780553"/>
            <a:ext cx="5724939" cy="710316"/>
          </a:xfrm>
        </p:spPr>
        <p:txBody>
          <a:bodyPr>
            <a:noAutofit/>
          </a:bodyPr>
          <a:lstStyle/>
          <a:p>
            <a:pPr marL="0" indent="0">
              <a:buNone/>
            </a:pPr>
            <a:r>
              <a:rPr lang="en-US" b="1" dirty="0"/>
              <a:t>No Null Values Presents in the</a:t>
            </a:r>
          </a:p>
          <a:p>
            <a:pPr marL="0" indent="0">
              <a:buNone/>
            </a:pPr>
            <a:r>
              <a:rPr lang="en-US" b="1" dirty="0"/>
              <a:t>                   dataset</a:t>
            </a:r>
            <a:endParaRPr lang="en-IN" b="1" dirty="0"/>
          </a:p>
        </p:txBody>
      </p:sp>
      <p:pic>
        <p:nvPicPr>
          <p:cNvPr id="7" name="Picture 6" descr="A screenshot of a computer&#10;&#10;AI-generated content may be incorrect.">
            <a:extLst>
              <a:ext uri="{FF2B5EF4-FFF2-40B4-BE49-F238E27FC236}">
                <a16:creationId xmlns:a16="http://schemas.microsoft.com/office/drawing/2014/main" id="{B5D8C524-C9B3-040F-AB6E-0D81ADB1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9273" y="576470"/>
            <a:ext cx="4036671" cy="5426764"/>
          </a:xfrm>
          <a:prstGeom prst="rect">
            <a:avLst/>
          </a:prstGeom>
        </p:spPr>
      </p:pic>
      <p:pic>
        <p:nvPicPr>
          <p:cNvPr id="9" name="Picture 8" descr="A blue and white bar chart&#10;&#10;AI-generated content may be incorrect.">
            <a:extLst>
              <a:ext uri="{FF2B5EF4-FFF2-40B4-BE49-F238E27FC236}">
                <a16:creationId xmlns:a16="http://schemas.microsoft.com/office/drawing/2014/main" id="{A9F3C14F-9E37-A22B-9D0D-C89F612490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2608" y="1719471"/>
            <a:ext cx="7530548" cy="4174434"/>
          </a:xfrm>
          <a:prstGeom prst="rect">
            <a:avLst/>
          </a:prstGeom>
        </p:spPr>
      </p:pic>
    </p:spTree>
    <p:extLst>
      <p:ext uri="{BB962C8B-B14F-4D97-AF65-F5344CB8AC3E}">
        <p14:creationId xmlns:p14="http://schemas.microsoft.com/office/powerpoint/2010/main" val="4153863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0C82F9BC-394D-2D61-A432-DF77D3BEB97F}"/>
              </a:ext>
            </a:extLst>
          </p:cNvPr>
          <p:cNvSpPr>
            <a:spLocks noGrp="1"/>
          </p:cNvSpPr>
          <p:nvPr>
            <p:ph idx="1"/>
          </p:nvPr>
        </p:nvSpPr>
        <p:spPr>
          <a:xfrm>
            <a:off x="678884" y="5078895"/>
            <a:ext cx="10834234" cy="994245"/>
          </a:xfrm>
        </p:spPr>
        <p:txBody>
          <a:bodyPr>
            <a:normAutofit fontScale="92500"/>
          </a:bodyPr>
          <a:lstStyle/>
          <a:p>
            <a:r>
              <a:rPr lang="en-US" dirty="0"/>
              <a:t>In heatmap highly correlated features are visible so </a:t>
            </a:r>
            <a:r>
              <a:rPr lang="en-US" dirty="0" err="1"/>
              <a:t>dropouting</a:t>
            </a:r>
            <a:r>
              <a:rPr lang="en-US" dirty="0"/>
              <a:t> that values. </a:t>
            </a:r>
          </a:p>
          <a:p>
            <a:r>
              <a:rPr lang="en-US" dirty="0"/>
              <a:t>Multicollinearity</a:t>
            </a:r>
            <a:endParaRPr lang="en-IN" dirty="0"/>
          </a:p>
        </p:txBody>
      </p:sp>
      <p:pic>
        <p:nvPicPr>
          <p:cNvPr id="9" name="Picture 8" descr="A screenshot of a graph">
            <a:extLst>
              <a:ext uri="{FF2B5EF4-FFF2-40B4-BE49-F238E27FC236}">
                <a16:creationId xmlns:a16="http://schemas.microsoft.com/office/drawing/2014/main" id="{83BEF53C-69F4-7206-4EF0-D1D7F95E3A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407504"/>
            <a:ext cx="9753600" cy="4562061"/>
          </a:xfrm>
          <a:prstGeom prst="rect">
            <a:avLst/>
          </a:prstGeom>
        </p:spPr>
      </p:pic>
    </p:spTree>
    <p:extLst>
      <p:ext uri="{BB962C8B-B14F-4D97-AF65-F5344CB8AC3E}">
        <p14:creationId xmlns:p14="http://schemas.microsoft.com/office/powerpoint/2010/main" val="3106169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AC9AD-F657-61DA-9763-37EAE109892F}"/>
              </a:ext>
            </a:extLst>
          </p:cNvPr>
          <p:cNvSpPr>
            <a:spLocks noGrp="1"/>
          </p:cNvSpPr>
          <p:nvPr>
            <p:ph type="title"/>
          </p:nvPr>
        </p:nvSpPr>
        <p:spPr/>
        <p:txBody>
          <a:bodyPr/>
          <a:lstStyle/>
          <a:p>
            <a:r>
              <a:rPr lang="en-IN" dirty="0"/>
              <a:t>PREPROCESIING</a:t>
            </a:r>
          </a:p>
        </p:txBody>
      </p:sp>
      <p:sp>
        <p:nvSpPr>
          <p:cNvPr id="3" name="Content Placeholder 2">
            <a:extLst>
              <a:ext uri="{FF2B5EF4-FFF2-40B4-BE49-F238E27FC236}">
                <a16:creationId xmlns:a16="http://schemas.microsoft.com/office/drawing/2014/main" id="{0DF9089C-7C30-2319-20F6-45A018CFB437}"/>
              </a:ext>
            </a:extLst>
          </p:cNvPr>
          <p:cNvSpPr>
            <a:spLocks noGrp="1"/>
          </p:cNvSpPr>
          <p:nvPr>
            <p:ph idx="1"/>
          </p:nvPr>
        </p:nvSpPr>
        <p:spPr/>
        <p:txBody>
          <a:bodyPr>
            <a:normAutofit fontScale="85000" lnSpcReduction="20000"/>
          </a:bodyPr>
          <a:lstStyle/>
          <a:p>
            <a:r>
              <a:rPr lang="en-US" dirty="0"/>
              <a:t>First, "ID" and "Unnamed 32 columns were dropped as they didn't provide any useful information for our predictions. </a:t>
            </a:r>
          </a:p>
          <a:p>
            <a:r>
              <a:rPr lang="en-US" dirty="0"/>
              <a:t>Since there is multicollinearity, columns with high correlations with other were dropped. </a:t>
            </a:r>
          </a:p>
          <a:p>
            <a:r>
              <a:rPr lang="en-US" dirty="0"/>
              <a:t>Then, we encoded the Categorical data into Numerical data with the help of Mapping, It assign a binary numeric values to each unique </a:t>
            </a:r>
            <a:r>
              <a:rPr lang="en-US" dirty="0" err="1"/>
              <a:t>clasa</a:t>
            </a:r>
            <a:r>
              <a:rPr lang="en-US" dirty="0"/>
              <a:t> present in column with categorical data Splitting the data into X and V.</a:t>
            </a:r>
          </a:p>
          <a:p>
            <a:r>
              <a:rPr lang="en-US" dirty="0"/>
              <a:t> In this stop, we partitioned the dataset into two components: X and y </a:t>
            </a:r>
          </a:p>
          <a:p>
            <a:r>
              <a:rPr lang="en-US" dirty="0"/>
              <a:t>The variable X encompasses all independent variables, representing the features that contribute to our predictions. </a:t>
            </a:r>
          </a:p>
          <a:p>
            <a:r>
              <a:rPr lang="en-US" dirty="0"/>
              <a:t>On the other hand, y encapsulates the dependent variable or target variable, serving as the outcome we aim to predict.. Mauris </a:t>
            </a:r>
            <a:r>
              <a:rPr lang="en-US" dirty="0" err="1"/>
              <a:t>massa</a:t>
            </a:r>
            <a:r>
              <a:rPr lang="en-US" dirty="0"/>
              <a:t> ipsum, pharetra id </a:t>
            </a:r>
            <a:r>
              <a:rPr lang="en-US" dirty="0" err="1"/>
              <a:t>nibh</a:t>
            </a:r>
            <a:r>
              <a:rPr lang="en-US" dirty="0"/>
              <a:t> </a:t>
            </a:r>
            <a:r>
              <a:rPr lang="en-US" dirty="0" err="1"/>
              <a:t>eget</a:t>
            </a:r>
            <a:r>
              <a:rPr lang="en-US" dirty="0"/>
              <a:t>, </a:t>
            </a:r>
            <a:r>
              <a:rPr lang="en-US" dirty="0" err="1"/>
              <a:t>sodales</a:t>
            </a:r>
            <a:r>
              <a:rPr lang="en-US" dirty="0"/>
              <a:t> </a:t>
            </a:r>
            <a:r>
              <a:rPr lang="en-US" dirty="0" err="1"/>
              <a:t>facilisis</a:t>
            </a:r>
            <a:r>
              <a:rPr lang="en-US" dirty="0"/>
              <a:t> </a:t>
            </a:r>
            <a:r>
              <a:rPr lang="en-US" dirty="0" err="1"/>
              <a:t>enim</a:t>
            </a:r>
            <a:r>
              <a:rPr lang="en-US" dirty="0"/>
              <a:t>.</a:t>
            </a:r>
            <a:endParaRPr lang="en-IN" dirty="0"/>
          </a:p>
        </p:txBody>
      </p:sp>
    </p:spTree>
    <p:extLst>
      <p:ext uri="{BB962C8B-B14F-4D97-AF65-F5344CB8AC3E}">
        <p14:creationId xmlns:p14="http://schemas.microsoft.com/office/powerpoint/2010/main" val="1476759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10AF9-5EF0-56CE-8901-BDC8BDF2330B}"/>
              </a:ext>
            </a:extLst>
          </p:cNvPr>
          <p:cNvSpPr>
            <a:spLocks noGrp="1"/>
          </p:cNvSpPr>
          <p:nvPr>
            <p:ph type="title"/>
          </p:nvPr>
        </p:nvSpPr>
        <p:spPr/>
        <p:txBody>
          <a:bodyPr/>
          <a:lstStyle/>
          <a:p>
            <a:r>
              <a:rPr lang="en-IN" dirty="0"/>
              <a:t>TRAIN-TEST SPLIT</a:t>
            </a:r>
          </a:p>
        </p:txBody>
      </p:sp>
      <p:sp>
        <p:nvSpPr>
          <p:cNvPr id="3" name="Content Placeholder 2">
            <a:extLst>
              <a:ext uri="{FF2B5EF4-FFF2-40B4-BE49-F238E27FC236}">
                <a16:creationId xmlns:a16="http://schemas.microsoft.com/office/drawing/2014/main" id="{25408533-C479-4CEF-B573-D81037B7CAC4}"/>
              </a:ext>
            </a:extLst>
          </p:cNvPr>
          <p:cNvSpPr>
            <a:spLocks noGrp="1"/>
          </p:cNvSpPr>
          <p:nvPr>
            <p:ph idx="1"/>
          </p:nvPr>
        </p:nvSpPr>
        <p:spPr>
          <a:xfrm>
            <a:off x="678884" y="1341783"/>
            <a:ext cx="10834234" cy="4731358"/>
          </a:xfrm>
        </p:spPr>
        <p:txBody>
          <a:bodyPr>
            <a:normAutofit fontScale="85000" lnSpcReduction="20000"/>
          </a:bodyPr>
          <a:lstStyle/>
          <a:p>
            <a:r>
              <a:rPr lang="en-US" dirty="0"/>
              <a:t>We then split the dataset into training data and testing data.</a:t>
            </a:r>
          </a:p>
          <a:p>
            <a:r>
              <a:rPr lang="en-US" dirty="0"/>
              <a:t> We did an 80:20 split, meaning 80% of our data is Training Data and 20% of our data is Testing Data. So, our test size was set to 0.2. </a:t>
            </a:r>
          </a:p>
          <a:p>
            <a:r>
              <a:rPr lang="en-US" dirty="0"/>
              <a:t>We took Random State as 40. This guaranteed the reproducibility of our results across different runs. </a:t>
            </a:r>
          </a:p>
          <a:p>
            <a:r>
              <a:rPr lang="en-US" dirty="0"/>
              <a:t>We also used Stratify y to ensure that our Target Variable (y) is distributed proportionally. </a:t>
            </a:r>
          </a:p>
          <a:p>
            <a:r>
              <a:rPr lang="en-US" dirty="0"/>
              <a:t>Standard Scaler </a:t>
            </a:r>
          </a:p>
          <a:p>
            <a:r>
              <a:rPr lang="en-US" dirty="0"/>
              <a:t>We used Standard Scaler to standardize the features of the dataset.</a:t>
            </a:r>
          </a:p>
          <a:p>
            <a:r>
              <a:rPr lang="en-US" dirty="0"/>
              <a:t> This ensured that the consistency between the features of the dataset was maintained.</a:t>
            </a:r>
          </a:p>
          <a:p>
            <a:r>
              <a:rPr lang="en-US" dirty="0"/>
              <a:t> Standardization is crucial for certain machine learning algorithms, promoting optimal model performance by mitigating the influence of varying magnitudes among features.</a:t>
            </a:r>
            <a:endParaRPr lang="en-IN" dirty="0"/>
          </a:p>
        </p:txBody>
      </p:sp>
    </p:spTree>
    <p:extLst>
      <p:ext uri="{BB962C8B-B14F-4D97-AF65-F5344CB8AC3E}">
        <p14:creationId xmlns:p14="http://schemas.microsoft.com/office/powerpoint/2010/main" val="5472980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A0617-11A8-9AB6-0AAD-BBAAE63812FF}"/>
              </a:ext>
            </a:extLst>
          </p:cNvPr>
          <p:cNvSpPr>
            <a:spLocks noGrp="1"/>
          </p:cNvSpPr>
          <p:nvPr>
            <p:ph type="title"/>
          </p:nvPr>
        </p:nvSpPr>
        <p:spPr/>
        <p:txBody>
          <a:bodyPr/>
          <a:lstStyle/>
          <a:p>
            <a:r>
              <a:rPr lang="en-IN" dirty="0"/>
              <a:t>MODEL SELECTION</a:t>
            </a:r>
          </a:p>
        </p:txBody>
      </p:sp>
      <p:sp>
        <p:nvSpPr>
          <p:cNvPr id="3" name="Content Placeholder 2">
            <a:extLst>
              <a:ext uri="{FF2B5EF4-FFF2-40B4-BE49-F238E27FC236}">
                <a16:creationId xmlns:a16="http://schemas.microsoft.com/office/drawing/2014/main" id="{19B5B15F-E408-0296-660F-CA1AAF9150A4}"/>
              </a:ext>
            </a:extLst>
          </p:cNvPr>
          <p:cNvSpPr>
            <a:spLocks noGrp="1"/>
          </p:cNvSpPr>
          <p:nvPr>
            <p:ph idx="1"/>
          </p:nvPr>
        </p:nvSpPr>
        <p:spPr>
          <a:xfrm>
            <a:off x="678884" y="1490870"/>
            <a:ext cx="10834234" cy="4582271"/>
          </a:xfrm>
        </p:spPr>
        <p:txBody>
          <a:bodyPr>
            <a:normAutofit fontScale="92500" lnSpcReduction="20000"/>
          </a:bodyPr>
          <a:lstStyle/>
          <a:p>
            <a:r>
              <a:rPr lang="en-IN" b="1" dirty="0"/>
              <a:t>Models used</a:t>
            </a:r>
          </a:p>
          <a:p>
            <a:pPr marL="514350" indent="-514350">
              <a:buFont typeface="+mj-lt"/>
              <a:buAutoNum type="arabicPeriod"/>
            </a:pPr>
            <a:r>
              <a:rPr lang="en-US" b="1" dirty="0"/>
              <a:t>Logistic Regression</a:t>
            </a:r>
            <a:r>
              <a:rPr lang="en-US" dirty="0"/>
              <a:t>: Logistic Regression is a powerful tool in binary </a:t>
            </a:r>
            <a:r>
              <a:rPr lang="en-US" dirty="0" err="1"/>
              <a:t>classifiention</a:t>
            </a:r>
            <a:r>
              <a:rPr lang="en-US" dirty="0"/>
              <a:t>, Its </a:t>
            </a:r>
            <a:r>
              <a:rPr lang="en-US" dirty="0" err="1"/>
              <a:t>Biry</a:t>
            </a:r>
            <a:r>
              <a:rPr lang="en-US" dirty="0"/>
              <a:t> good at modeling the probability of an event recurring, making it suitable for scenarios whore understanding the likelihood of breast cancer cells is </a:t>
            </a:r>
            <a:r>
              <a:rPr lang="en-US" dirty="0" err="1"/>
              <a:t>csontinl</a:t>
            </a:r>
            <a:r>
              <a:rPr lang="en-US" dirty="0"/>
              <a:t> </a:t>
            </a:r>
          </a:p>
          <a:p>
            <a:pPr marL="514350" indent="-514350">
              <a:buFont typeface="+mj-lt"/>
              <a:buAutoNum type="arabicPeriod"/>
            </a:pPr>
            <a:r>
              <a:rPr lang="en-US" b="1" dirty="0"/>
              <a:t>Random Forest </a:t>
            </a:r>
            <a:r>
              <a:rPr lang="en-US" dirty="0"/>
              <a:t>It is based on the concept of </a:t>
            </a:r>
            <a:r>
              <a:rPr lang="en-US" dirty="0" err="1"/>
              <a:t>enserable</a:t>
            </a:r>
            <a:r>
              <a:rPr lang="en-US" dirty="0"/>
              <a:t> learning, which is a process of combining multiple classifiers to solve a complex problem and to </a:t>
            </a:r>
            <a:r>
              <a:rPr lang="en-US" dirty="0" err="1"/>
              <a:t>iraprove</a:t>
            </a:r>
            <a:r>
              <a:rPr lang="en-US" dirty="0"/>
              <a:t> the performance of the model. </a:t>
            </a:r>
          </a:p>
          <a:p>
            <a:pPr marL="514350" indent="-514350">
              <a:buFont typeface="+mj-lt"/>
              <a:buAutoNum type="arabicPeriod"/>
            </a:pPr>
            <a:r>
              <a:rPr lang="en-US" b="1" dirty="0"/>
              <a:t>Decision Tree</a:t>
            </a:r>
            <a:r>
              <a:rPr lang="en-US" dirty="0"/>
              <a:t>: A decision </a:t>
            </a:r>
            <a:r>
              <a:rPr lang="en-US" dirty="0" err="1"/>
              <a:t>tren</a:t>
            </a:r>
            <a:r>
              <a:rPr lang="en-US" dirty="0"/>
              <a:t> is a supervised learning algorithm that models decisions based on input features </a:t>
            </a:r>
          </a:p>
          <a:p>
            <a:pPr marL="514350" indent="-514350">
              <a:buFont typeface="+mj-lt"/>
              <a:buAutoNum type="arabicPeriod"/>
            </a:pPr>
            <a:r>
              <a:rPr lang="en-US" b="1" dirty="0"/>
              <a:t>Support Vector Machine (SVC): </a:t>
            </a:r>
            <a:r>
              <a:rPr lang="en-US" dirty="0"/>
              <a:t>Support Vector Classification is a robust algorithm employed for classification </a:t>
            </a:r>
            <a:r>
              <a:rPr lang="en-US" dirty="0" err="1"/>
              <a:t>taska</a:t>
            </a:r>
            <a:r>
              <a:rPr lang="en-US" dirty="0"/>
              <a:t>, </a:t>
            </a:r>
            <a:r>
              <a:rPr lang="en-US" dirty="0" err="1"/>
              <a:t>ospecially</a:t>
            </a:r>
            <a:r>
              <a:rPr lang="en-US" dirty="0"/>
              <a:t> when there's a need for clear separation between classes</a:t>
            </a:r>
            <a:endParaRPr lang="en-IN" b="1" dirty="0"/>
          </a:p>
        </p:txBody>
      </p:sp>
    </p:spTree>
    <p:extLst>
      <p:ext uri="{BB962C8B-B14F-4D97-AF65-F5344CB8AC3E}">
        <p14:creationId xmlns:p14="http://schemas.microsoft.com/office/powerpoint/2010/main" val="34527327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08DB5-8BAD-31EB-5E45-959280FD32F3}"/>
              </a:ext>
            </a:extLst>
          </p:cNvPr>
          <p:cNvSpPr>
            <a:spLocks noGrp="1"/>
          </p:cNvSpPr>
          <p:nvPr>
            <p:ph type="title"/>
          </p:nvPr>
        </p:nvSpPr>
        <p:spPr/>
        <p:txBody>
          <a:bodyPr/>
          <a:lstStyle/>
          <a:p>
            <a:r>
              <a:rPr lang="en-IN" dirty="0"/>
              <a:t>Model Selection and Consideration</a:t>
            </a:r>
          </a:p>
        </p:txBody>
      </p:sp>
      <p:sp>
        <p:nvSpPr>
          <p:cNvPr id="3" name="Content Placeholder 2">
            <a:extLst>
              <a:ext uri="{FF2B5EF4-FFF2-40B4-BE49-F238E27FC236}">
                <a16:creationId xmlns:a16="http://schemas.microsoft.com/office/drawing/2014/main" id="{0D0F063A-4604-0873-DDEC-10E360D613D5}"/>
              </a:ext>
            </a:extLst>
          </p:cNvPr>
          <p:cNvSpPr>
            <a:spLocks noGrp="1"/>
          </p:cNvSpPr>
          <p:nvPr>
            <p:ph idx="1"/>
          </p:nvPr>
        </p:nvSpPr>
        <p:spPr/>
        <p:txBody>
          <a:bodyPr/>
          <a:lstStyle/>
          <a:p>
            <a:r>
              <a:rPr lang="en-US" dirty="0"/>
              <a:t>SVC outperforms Logistic Regression, Random Forest, Decision Tree and Naive Bayes in all metrics, demonstrating higher Accuracy, Precision, Recall, and F1 Score. It seems to be a promising model for our task.</a:t>
            </a:r>
          </a:p>
          <a:p>
            <a:r>
              <a:rPr lang="en-US" dirty="0"/>
              <a:t> Based on the provided metrics, SVC stands out as the best performing mod overall. It </a:t>
            </a:r>
            <a:r>
              <a:rPr lang="en-US" dirty="0" err="1"/>
              <a:t>schieves</a:t>
            </a:r>
            <a:r>
              <a:rPr lang="en-US" dirty="0"/>
              <a:t> a good </a:t>
            </a:r>
            <a:r>
              <a:rPr lang="en-US" dirty="0" err="1"/>
              <a:t>halance</a:t>
            </a:r>
            <a:r>
              <a:rPr lang="en-US" dirty="0"/>
              <a:t> between precision and recall, making it suitable for our Breast Cancer prediction task.</a:t>
            </a:r>
          </a:p>
          <a:p>
            <a:r>
              <a:rPr lang="en-US" dirty="0"/>
              <a:t> Hence, we will go with Support Vector Classification as our final model as it is quite evident that it performs best for our Breast Cancer problem.</a:t>
            </a:r>
            <a:endParaRPr lang="en-IN" dirty="0"/>
          </a:p>
        </p:txBody>
      </p:sp>
    </p:spTree>
    <p:extLst>
      <p:ext uri="{BB962C8B-B14F-4D97-AF65-F5344CB8AC3E}">
        <p14:creationId xmlns:p14="http://schemas.microsoft.com/office/powerpoint/2010/main" val="42596710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4CD03-63A3-64C3-CF5A-DD0EAAA44360}"/>
              </a:ext>
            </a:extLst>
          </p:cNvPr>
          <p:cNvSpPr>
            <a:spLocks noGrp="1"/>
          </p:cNvSpPr>
          <p:nvPr>
            <p:ph type="title"/>
          </p:nvPr>
        </p:nvSpPr>
        <p:spPr/>
        <p:txBody>
          <a:bodyPr>
            <a:normAutofit/>
          </a:bodyPr>
          <a:lstStyle/>
          <a:p>
            <a:r>
              <a:rPr lang="en-IN" sz="3800" dirty="0"/>
              <a:t>RESULTS</a:t>
            </a:r>
          </a:p>
        </p:txBody>
      </p:sp>
      <p:sp>
        <p:nvSpPr>
          <p:cNvPr id="3" name="Content Placeholder 2">
            <a:extLst>
              <a:ext uri="{FF2B5EF4-FFF2-40B4-BE49-F238E27FC236}">
                <a16:creationId xmlns:a16="http://schemas.microsoft.com/office/drawing/2014/main" id="{F7D65C30-9985-04FD-0CEB-29C4FC689539}"/>
              </a:ext>
            </a:extLst>
          </p:cNvPr>
          <p:cNvSpPr>
            <a:spLocks noGrp="1"/>
          </p:cNvSpPr>
          <p:nvPr>
            <p:ph idx="1"/>
          </p:nvPr>
        </p:nvSpPr>
        <p:spPr>
          <a:xfrm>
            <a:off x="678884" y="1216441"/>
            <a:ext cx="10834234" cy="4856700"/>
          </a:xfrm>
        </p:spPr>
        <p:txBody>
          <a:bodyPr>
            <a:normAutofit fontScale="77500" lnSpcReduction="20000"/>
          </a:bodyPr>
          <a:lstStyle/>
          <a:p>
            <a:pPr marL="0" indent="0">
              <a:buNone/>
            </a:pPr>
            <a:r>
              <a:rPr lang="en-IN" dirty="0"/>
              <a:t>Model Performance Metrics:</a:t>
            </a:r>
          </a:p>
          <a:p>
            <a:pPr marL="0" indent="0">
              <a:lnSpc>
                <a:spcPct val="100000"/>
              </a:lnSpc>
              <a:buNone/>
            </a:pPr>
            <a:r>
              <a:rPr lang="en-IN" dirty="0"/>
              <a:t>Accuracy: 98.25% </a:t>
            </a:r>
          </a:p>
          <a:p>
            <a:pPr marL="0" indent="0">
              <a:lnSpc>
                <a:spcPct val="100000"/>
              </a:lnSpc>
              <a:buNone/>
            </a:pPr>
            <a:r>
              <a:rPr lang="en-IN" dirty="0"/>
              <a:t>Precision: 96% </a:t>
            </a:r>
          </a:p>
          <a:p>
            <a:pPr marL="0" indent="0">
              <a:lnSpc>
                <a:spcPct val="100000"/>
              </a:lnSpc>
              <a:buNone/>
            </a:pPr>
            <a:r>
              <a:rPr lang="en-IN" dirty="0"/>
              <a:t>Recall: 95% </a:t>
            </a:r>
          </a:p>
          <a:p>
            <a:pPr marL="0" indent="0">
              <a:lnSpc>
                <a:spcPct val="100000"/>
              </a:lnSpc>
              <a:buNone/>
            </a:pPr>
            <a:r>
              <a:rPr lang="en-IN" dirty="0"/>
              <a:t>F1 Score: 95%</a:t>
            </a:r>
          </a:p>
          <a:p>
            <a:pPr marL="0" indent="0">
              <a:lnSpc>
                <a:spcPct val="100000"/>
              </a:lnSpc>
              <a:buNone/>
            </a:pPr>
            <a:endParaRPr lang="en-IN" dirty="0"/>
          </a:p>
          <a:p>
            <a:pPr marL="0" indent="0">
              <a:buNone/>
            </a:pPr>
            <a:r>
              <a:rPr lang="en-IN" dirty="0"/>
              <a:t>Confusion Matrix Example: </a:t>
            </a:r>
          </a:p>
          <a:p>
            <a:pPr marL="0" indent="0">
              <a:buNone/>
            </a:pPr>
            <a:r>
              <a:rPr lang="en-IN" dirty="0"/>
              <a:t>Predicted Benign Predicted Malignant </a:t>
            </a:r>
          </a:p>
          <a:p>
            <a:pPr marL="0" indent="0">
              <a:buNone/>
            </a:pPr>
            <a:r>
              <a:rPr lang="en-IN" dirty="0"/>
              <a:t>Actual Benign 175 2</a:t>
            </a:r>
          </a:p>
          <a:p>
            <a:pPr marL="0" indent="0">
              <a:buNone/>
            </a:pPr>
            <a:r>
              <a:rPr lang="en-IN" dirty="0"/>
              <a:t>Actual Malignant 3 107 </a:t>
            </a:r>
          </a:p>
          <a:p>
            <a:pPr marL="0" indent="0">
              <a:buNone/>
            </a:pPr>
            <a:endParaRPr lang="en-IN" dirty="0"/>
          </a:p>
          <a:p>
            <a:pPr marL="0" indent="0">
              <a:buNone/>
            </a:pPr>
            <a:r>
              <a:rPr lang="en-IN" dirty="0"/>
              <a:t>Interpretation: The model correctly classifies most cases with minimal false negatives (important in cancer detection)</a:t>
            </a:r>
          </a:p>
        </p:txBody>
      </p:sp>
    </p:spTree>
    <p:extLst>
      <p:ext uri="{BB962C8B-B14F-4D97-AF65-F5344CB8AC3E}">
        <p14:creationId xmlns:p14="http://schemas.microsoft.com/office/powerpoint/2010/main" val="3574748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of a cancer prediction&#10;&#10;AI-generated content may be incorrect.">
            <a:extLst>
              <a:ext uri="{FF2B5EF4-FFF2-40B4-BE49-F238E27FC236}">
                <a16:creationId xmlns:a16="http://schemas.microsoft.com/office/drawing/2014/main" id="{70ABE234-84A9-D7A6-549A-6A2912437F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1423" y="477078"/>
            <a:ext cx="5185610" cy="5078895"/>
          </a:xfrm>
          <a:prstGeom prst="rect">
            <a:avLst/>
          </a:prstGeom>
        </p:spPr>
      </p:pic>
      <p:pic>
        <p:nvPicPr>
          <p:cNvPr id="7" name="Picture 6" descr="A screenshot of a graph&#10;&#10;AI-generated content may be incorrect.">
            <a:extLst>
              <a:ext uri="{FF2B5EF4-FFF2-40B4-BE49-F238E27FC236}">
                <a16:creationId xmlns:a16="http://schemas.microsoft.com/office/drawing/2014/main" id="{46010CEF-D219-F975-A451-DE8D078770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273" y="1063900"/>
            <a:ext cx="5772150" cy="3905250"/>
          </a:xfrm>
          <a:prstGeom prst="rect">
            <a:avLst/>
          </a:prstGeom>
        </p:spPr>
      </p:pic>
    </p:spTree>
    <p:extLst>
      <p:ext uri="{BB962C8B-B14F-4D97-AF65-F5344CB8AC3E}">
        <p14:creationId xmlns:p14="http://schemas.microsoft.com/office/powerpoint/2010/main" val="25713581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5D154D-C371-ECC4-09DC-117B442771BA}"/>
              </a:ext>
            </a:extLst>
          </p:cNvPr>
          <p:cNvSpPr>
            <a:spLocks noGrp="1"/>
          </p:cNvSpPr>
          <p:nvPr>
            <p:ph idx="1"/>
          </p:nvPr>
        </p:nvSpPr>
        <p:spPr>
          <a:xfrm>
            <a:off x="678884" y="129209"/>
            <a:ext cx="10834234" cy="5943932"/>
          </a:xfrm>
        </p:spPr>
        <p:txBody>
          <a:bodyPr/>
          <a:lstStyle/>
          <a:p>
            <a:endParaRPr lang="en-IN" dirty="0"/>
          </a:p>
          <a:p>
            <a:endParaRPr lang="en-IN" dirty="0"/>
          </a:p>
          <a:p>
            <a:endParaRPr lang="en-IN" dirty="0"/>
          </a:p>
          <a:p>
            <a:pPr marL="0" indent="0">
              <a:buNone/>
            </a:pPr>
            <a:r>
              <a:rPr lang="en-IN" b="1" dirty="0"/>
              <a:t>Home Page</a:t>
            </a:r>
          </a:p>
          <a:p>
            <a:pPr marL="0" indent="0">
              <a:buNone/>
            </a:pPr>
            <a:endParaRPr lang="en-IN" b="1" dirty="0"/>
          </a:p>
          <a:p>
            <a:pPr marL="0" indent="0">
              <a:buNone/>
            </a:pPr>
            <a:endParaRPr lang="en-IN" b="1" dirty="0"/>
          </a:p>
          <a:p>
            <a:pPr marL="0" indent="0">
              <a:buNone/>
            </a:pPr>
            <a:endParaRPr lang="en-IN" b="1" dirty="0"/>
          </a:p>
          <a:p>
            <a:pPr marL="0" indent="0">
              <a:buNone/>
            </a:pPr>
            <a:endParaRPr lang="en-IN" b="1" dirty="0"/>
          </a:p>
          <a:p>
            <a:pPr marL="0" indent="0">
              <a:buNone/>
            </a:pPr>
            <a:r>
              <a:rPr lang="en-IN" b="1" dirty="0"/>
              <a:t>Result page </a:t>
            </a:r>
          </a:p>
        </p:txBody>
      </p:sp>
      <p:pic>
        <p:nvPicPr>
          <p:cNvPr id="5" name="Picture 4" descr="A person's chest with a pink and blue light&#10;&#10;AI-generated content may be incorrect.">
            <a:extLst>
              <a:ext uri="{FF2B5EF4-FFF2-40B4-BE49-F238E27FC236}">
                <a16:creationId xmlns:a16="http://schemas.microsoft.com/office/drawing/2014/main" id="{39FCC7CD-9E0E-B06D-A02D-464AA97627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8574" y="129209"/>
            <a:ext cx="8229600" cy="2961861"/>
          </a:xfrm>
          <a:prstGeom prst="rect">
            <a:avLst/>
          </a:prstGeom>
        </p:spPr>
      </p:pic>
      <p:pic>
        <p:nvPicPr>
          <p:cNvPr id="7" name="Picture 6" descr="A screenshot of a computer screen&#10;&#10;AI-generated content may be incorrect.">
            <a:extLst>
              <a:ext uri="{FF2B5EF4-FFF2-40B4-BE49-F238E27FC236}">
                <a16:creationId xmlns:a16="http://schemas.microsoft.com/office/drawing/2014/main" id="{176173D2-6083-94E4-65FE-CC490F88F6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8574" y="3240157"/>
            <a:ext cx="8229600" cy="2753140"/>
          </a:xfrm>
          <a:prstGeom prst="rect">
            <a:avLst/>
          </a:prstGeom>
        </p:spPr>
      </p:pic>
    </p:spTree>
    <p:extLst>
      <p:ext uri="{BB962C8B-B14F-4D97-AF65-F5344CB8AC3E}">
        <p14:creationId xmlns:p14="http://schemas.microsoft.com/office/powerpoint/2010/main" val="6814294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A7DA4-8455-C0F4-475C-7CA16CDCE47E}"/>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BAFA7085-A44E-D47A-97E7-10E35529C098}"/>
              </a:ext>
            </a:extLst>
          </p:cNvPr>
          <p:cNvSpPr>
            <a:spLocks noGrp="1"/>
          </p:cNvSpPr>
          <p:nvPr>
            <p:ph idx="1"/>
          </p:nvPr>
        </p:nvSpPr>
        <p:spPr>
          <a:xfrm>
            <a:off x="678884" y="1341783"/>
            <a:ext cx="10834234" cy="4731358"/>
          </a:xfrm>
        </p:spPr>
        <p:txBody>
          <a:bodyPr>
            <a:normAutofit fontScale="92500" lnSpcReduction="10000"/>
          </a:bodyPr>
          <a:lstStyle/>
          <a:p>
            <a:r>
              <a:rPr lang="en-US" dirty="0"/>
              <a:t>With the help of several insights, patterns and trends in our data, we've </a:t>
            </a:r>
            <a:r>
              <a:rPr lang="en-US" dirty="0" err="1"/>
              <a:t>ved</a:t>
            </a:r>
            <a:r>
              <a:rPr lang="en-US" dirty="0"/>
              <a:t> Machine Learning to address the intricate challenge of predicting Breast Cancer. </a:t>
            </a:r>
          </a:p>
          <a:p>
            <a:r>
              <a:rPr lang="en-US" dirty="0"/>
              <a:t>This project offers significant benefits to </a:t>
            </a:r>
            <a:r>
              <a:rPr lang="en-US" dirty="0" err="1"/>
              <a:t>banka</a:t>
            </a:r>
            <a:r>
              <a:rPr lang="en-US" dirty="0"/>
              <a:t> </a:t>
            </a:r>
          </a:p>
          <a:p>
            <a:r>
              <a:rPr lang="en-US" dirty="0"/>
              <a:t>Combining multiple risk factor tars in modeling for breast cancer prediction could help the early diagnosis of the disease with necessary care plans. </a:t>
            </a:r>
          </a:p>
          <a:p>
            <a:r>
              <a:rPr lang="en-US" dirty="0"/>
              <a:t>Collection, storage, and management of different data and intelligent systems based on multiple factors for predicting breast cancer are effective in disease management. </a:t>
            </a:r>
          </a:p>
          <a:p>
            <a:r>
              <a:rPr lang="en-US" dirty="0"/>
              <a:t>The proposed machine learning approaches could predict breast cancer as the early detection of this disease could help slow down the progress of the disease and reduce the mortality rate through appropriate therapeutic interventions at the right time</a:t>
            </a:r>
            <a:endParaRPr lang="en-IN" dirty="0"/>
          </a:p>
        </p:txBody>
      </p:sp>
    </p:spTree>
    <p:extLst>
      <p:ext uri="{BB962C8B-B14F-4D97-AF65-F5344CB8AC3E}">
        <p14:creationId xmlns:p14="http://schemas.microsoft.com/office/powerpoint/2010/main" val="1660962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7114</TotalTime>
  <Words>1217</Words>
  <Application>Microsoft Office PowerPoint</Application>
  <PresentationFormat>Widescreen</PresentationFormat>
  <Paragraphs>101</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Courier New</vt:lpstr>
      <vt:lpstr>Wingdings</vt:lpstr>
      <vt:lpstr>BIA Template</vt:lpstr>
      <vt:lpstr>PowerPoint Presentation</vt:lpstr>
      <vt:lpstr>Agenda</vt:lpstr>
      <vt:lpstr>INTRODUCTION</vt:lpstr>
      <vt:lpstr>PROJECT'S SIGNIFICANCE AND ITS BENEFITS TO HEALTHCARE STATEMENT</vt:lpstr>
      <vt:lpstr>Dataset Description</vt:lpstr>
      <vt:lpstr>Exploratory Data Analysis (EDA)</vt:lpstr>
      <vt:lpstr>PowerPoint Presentation</vt:lpstr>
      <vt:lpstr>Data Exploration</vt:lpstr>
      <vt:lpstr>PowerPoint Presentation</vt:lpstr>
      <vt:lpstr>PowerPoint Presentation</vt:lpstr>
      <vt:lpstr>PREPROCESIING</vt:lpstr>
      <vt:lpstr>TRAIN-TEST SPLIT</vt:lpstr>
      <vt:lpstr>MODEL SELECTION</vt:lpstr>
      <vt:lpstr>Model Selection and Consideration</vt:lpstr>
      <vt:lpstr>RESULTS</vt:lpstr>
      <vt:lpstr>PowerPoint Presentation</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ketan kotane</cp:lastModifiedBy>
  <cp:revision>2260</cp:revision>
  <dcterms:created xsi:type="dcterms:W3CDTF">2020-12-23T13:36:00Z</dcterms:created>
  <dcterms:modified xsi:type="dcterms:W3CDTF">2025-11-12T16:16:17Z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